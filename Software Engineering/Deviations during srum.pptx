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57" r:id="rId6"/>
    <p:sldId id="258" r:id="rId7"/>
    <p:sldId id="259" r:id="rId8"/>
    <p:sldId id="260" r:id="rId9"/>
    <p:sldId id="267" r:id="rId10"/>
    <p:sldId id="266" r:id="rId11"/>
    <p:sldId id="268"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0BCBB6-8000-4457-A421-2B0384F70C55}" v="44" dt="2022-06-04T09:06:11.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2" d="100"/>
          <a:sy n="72" d="100"/>
        </p:scale>
        <p:origin x="660" y="6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ycliffe Bahati" userId="c4ed4dfab12a01ee" providerId="LiveId" clId="{190BCBB6-8000-4457-A421-2B0384F70C55}"/>
    <pc:docChg chg="undo custSel addSld delSld modSld sldOrd">
      <pc:chgData name="Wycliffe Bahati" userId="c4ed4dfab12a01ee" providerId="LiveId" clId="{190BCBB6-8000-4457-A421-2B0384F70C55}" dt="2022-06-04T09:06:18.373" v="2050" actId="20577"/>
      <pc:docMkLst>
        <pc:docMk/>
      </pc:docMkLst>
      <pc:sldChg chg="addSp delSp modSp">
        <pc:chgData name="Wycliffe Bahati" userId="c4ed4dfab12a01ee" providerId="LiveId" clId="{190BCBB6-8000-4457-A421-2B0384F70C55}" dt="2022-06-04T08:56:10.846" v="2009" actId="313"/>
        <pc:sldMkLst>
          <pc:docMk/>
          <pc:sldMk cId="1652133998" sldId="256"/>
        </pc:sldMkLst>
        <pc:spChg chg="add del mod">
          <ac:chgData name="Wycliffe Bahati" userId="c4ed4dfab12a01ee" providerId="LiveId" clId="{190BCBB6-8000-4457-A421-2B0384F70C55}" dt="2022-06-04T08:43:13.334" v="1124" actId="478"/>
          <ac:spMkLst>
            <pc:docMk/>
            <pc:sldMk cId="1652133998" sldId="256"/>
            <ac:spMk id="5" creationId="{C23870EF-ACE1-4216-9D99-6D720A66EF68}"/>
          </ac:spMkLst>
        </pc:spChg>
        <pc:spChg chg="mod">
          <ac:chgData name="Wycliffe Bahati" userId="c4ed4dfab12a01ee" providerId="LiveId" clId="{190BCBB6-8000-4457-A421-2B0384F70C55}" dt="2022-06-04T08:56:10.846" v="2009" actId="313"/>
          <ac:spMkLst>
            <pc:docMk/>
            <pc:sldMk cId="1652133998" sldId="256"/>
            <ac:spMk id="6" creationId="{00000000-0000-0000-0000-000000000000}"/>
          </ac:spMkLst>
        </pc:spChg>
        <pc:picChg chg="add mod">
          <ac:chgData name="Wycliffe Bahati" userId="c4ed4dfab12a01ee" providerId="LiveId" clId="{190BCBB6-8000-4457-A421-2B0384F70C55}" dt="2022-06-04T08:43:21.459" v="1126" actId="1076"/>
          <ac:picMkLst>
            <pc:docMk/>
            <pc:sldMk cId="1652133998" sldId="256"/>
            <ac:picMk id="2" creationId="{B29C1000-CE07-4F0A-A31D-7FEF3F9F36A2}"/>
          </ac:picMkLst>
        </pc:picChg>
        <pc:picChg chg="del">
          <ac:chgData name="Wycliffe Bahati" userId="c4ed4dfab12a01ee" providerId="LiveId" clId="{190BCBB6-8000-4457-A421-2B0384F70C55}" dt="2022-06-04T08:43:05.377" v="1121" actId="478"/>
          <ac:picMkLst>
            <pc:docMk/>
            <pc:sldMk cId="1652133998" sldId="256"/>
            <ac:picMk id="4" creationId="{00000000-0000-0000-0000-000000000000}"/>
          </ac:picMkLst>
        </pc:picChg>
      </pc:sldChg>
      <pc:sldChg chg="modSp">
        <pc:chgData name="Wycliffe Bahati" userId="c4ed4dfab12a01ee" providerId="LiveId" clId="{190BCBB6-8000-4457-A421-2B0384F70C55}" dt="2022-06-04T08:30:17.214" v="507" actId="313"/>
        <pc:sldMkLst>
          <pc:docMk/>
          <pc:sldMk cId="4010278615" sldId="258"/>
        </pc:sldMkLst>
        <pc:spChg chg="mod">
          <ac:chgData name="Wycliffe Bahati" userId="c4ed4dfab12a01ee" providerId="LiveId" clId="{190BCBB6-8000-4457-A421-2B0384F70C55}" dt="2022-06-04T08:30:17.214" v="507" actId="313"/>
          <ac:spMkLst>
            <pc:docMk/>
            <pc:sldMk cId="4010278615" sldId="258"/>
            <ac:spMk id="3" creationId="{478CEAD2-459D-4ED6-B490-3D61E44CF8FA}"/>
          </ac:spMkLst>
        </pc:spChg>
      </pc:sldChg>
      <pc:sldChg chg="addSp delSp modSp">
        <pc:chgData name="Wycliffe Bahati" userId="c4ed4dfab12a01ee" providerId="LiveId" clId="{190BCBB6-8000-4457-A421-2B0384F70C55}" dt="2022-06-04T08:50:03.533" v="1242" actId="33524"/>
        <pc:sldMkLst>
          <pc:docMk/>
          <pc:sldMk cId="4224509479" sldId="260"/>
        </pc:sldMkLst>
        <pc:spChg chg="mod">
          <ac:chgData name="Wycliffe Bahati" userId="c4ed4dfab12a01ee" providerId="LiveId" clId="{190BCBB6-8000-4457-A421-2B0384F70C55}" dt="2022-06-04T07:48:18.707" v="44" actId="20577"/>
          <ac:spMkLst>
            <pc:docMk/>
            <pc:sldMk cId="4224509479" sldId="260"/>
            <ac:spMk id="2" creationId="{00000000-0000-0000-0000-000000000000}"/>
          </ac:spMkLst>
        </pc:spChg>
        <pc:spChg chg="add del mod">
          <ac:chgData name="Wycliffe Bahati" userId="c4ed4dfab12a01ee" providerId="LiveId" clId="{190BCBB6-8000-4457-A421-2B0384F70C55}" dt="2022-06-04T07:48:22.669" v="45" actId="478"/>
          <ac:spMkLst>
            <pc:docMk/>
            <pc:sldMk cId="4224509479" sldId="260"/>
            <ac:spMk id="3" creationId="{B739DEB4-8D1D-45F9-93A5-E522D8600801}"/>
          </ac:spMkLst>
        </pc:spChg>
        <pc:graphicFrameChg chg="del mod">
          <ac:chgData name="Wycliffe Bahati" userId="c4ed4dfab12a01ee" providerId="LiveId" clId="{190BCBB6-8000-4457-A421-2B0384F70C55}" dt="2022-06-04T07:47:34.093" v="1" actId="478"/>
          <ac:graphicFrameMkLst>
            <pc:docMk/>
            <pc:sldMk cId="4224509479" sldId="260"/>
            <ac:graphicFrameMk id="4" creationId="{00000000-0000-0000-0000-000000000000}"/>
          </ac:graphicFrameMkLst>
        </pc:graphicFrameChg>
        <pc:graphicFrameChg chg="add mod modGraphic">
          <ac:chgData name="Wycliffe Bahati" userId="c4ed4dfab12a01ee" providerId="LiveId" clId="{190BCBB6-8000-4457-A421-2B0384F70C55}" dt="2022-06-04T08:50:03.533" v="1242" actId="33524"/>
          <ac:graphicFrameMkLst>
            <pc:docMk/>
            <pc:sldMk cId="4224509479" sldId="260"/>
            <ac:graphicFrameMk id="5" creationId="{CB7F504D-C84F-4460-B388-703E0F1CFCFE}"/>
          </ac:graphicFrameMkLst>
        </pc:graphicFrameChg>
      </pc:sldChg>
      <pc:sldChg chg="del">
        <pc:chgData name="Wycliffe Bahati" userId="c4ed4dfab12a01ee" providerId="LiveId" clId="{190BCBB6-8000-4457-A421-2B0384F70C55}" dt="2022-06-04T07:56:58.127" v="119" actId="2696"/>
        <pc:sldMkLst>
          <pc:docMk/>
          <pc:sldMk cId="132884364" sldId="261"/>
        </pc:sldMkLst>
      </pc:sldChg>
      <pc:sldChg chg="del">
        <pc:chgData name="Wycliffe Bahati" userId="c4ed4dfab12a01ee" providerId="LiveId" clId="{190BCBB6-8000-4457-A421-2B0384F70C55}" dt="2022-06-04T07:56:59.534" v="120" actId="2696"/>
        <pc:sldMkLst>
          <pc:docMk/>
          <pc:sldMk cId="2224495804" sldId="262"/>
        </pc:sldMkLst>
      </pc:sldChg>
      <pc:sldChg chg="del">
        <pc:chgData name="Wycliffe Bahati" userId="c4ed4dfab12a01ee" providerId="LiveId" clId="{190BCBB6-8000-4457-A421-2B0384F70C55}" dt="2022-06-04T07:57:00.383" v="121" actId="2696"/>
        <pc:sldMkLst>
          <pc:docMk/>
          <pc:sldMk cId="1527004159" sldId="263"/>
        </pc:sldMkLst>
      </pc:sldChg>
      <pc:sldChg chg="del">
        <pc:chgData name="Wycliffe Bahati" userId="c4ed4dfab12a01ee" providerId="LiveId" clId="{190BCBB6-8000-4457-A421-2B0384F70C55}" dt="2022-06-04T07:57:13.733" v="126" actId="2696"/>
        <pc:sldMkLst>
          <pc:docMk/>
          <pc:sldMk cId="1800380133" sldId="264"/>
        </pc:sldMkLst>
      </pc:sldChg>
      <pc:sldChg chg="delSp modSp">
        <pc:chgData name="Wycliffe Bahati" userId="c4ed4dfab12a01ee" providerId="LiveId" clId="{190BCBB6-8000-4457-A421-2B0384F70C55}" dt="2022-06-04T09:06:18.373" v="2050" actId="20577"/>
        <pc:sldMkLst>
          <pc:docMk/>
          <pc:sldMk cId="3197023440" sldId="265"/>
        </pc:sldMkLst>
        <pc:spChg chg="mod">
          <ac:chgData name="Wycliffe Bahati" userId="c4ed4dfab12a01ee" providerId="LiveId" clId="{190BCBB6-8000-4457-A421-2B0384F70C55}" dt="2022-06-04T09:06:18.373" v="2050" actId="20577"/>
          <ac:spMkLst>
            <pc:docMk/>
            <pc:sldMk cId="3197023440" sldId="265"/>
            <ac:spMk id="2" creationId="{00000000-0000-0000-0000-000000000000}"/>
          </ac:spMkLst>
        </pc:spChg>
        <pc:spChg chg="del">
          <ac:chgData name="Wycliffe Bahati" userId="c4ed4dfab12a01ee" providerId="LiveId" clId="{190BCBB6-8000-4457-A421-2B0384F70C55}" dt="2022-06-04T08:06:24.496" v="350" actId="478"/>
          <ac:spMkLst>
            <pc:docMk/>
            <pc:sldMk cId="3197023440" sldId="265"/>
            <ac:spMk id="3" creationId="{00000000-0000-0000-0000-000000000000}"/>
          </ac:spMkLst>
        </pc:spChg>
        <pc:spChg chg="mod">
          <ac:chgData name="Wycliffe Bahati" userId="c4ed4dfab12a01ee" providerId="LiveId" clId="{190BCBB6-8000-4457-A421-2B0384F70C55}" dt="2022-06-04T09:06:11.761" v="2041"/>
          <ac:spMkLst>
            <pc:docMk/>
            <pc:sldMk cId="3197023440" sldId="265"/>
            <ac:spMk id="4" creationId="{00000000-0000-0000-0000-000000000000}"/>
          </ac:spMkLst>
        </pc:spChg>
      </pc:sldChg>
      <pc:sldChg chg="modSp add ord">
        <pc:chgData name="Wycliffe Bahati" userId="c4ed4dfab12a01ee" providerId="LiveId" clId="{190BCBB6-8000-4457-A421-2B0384F70C55}" dt="2022-06-04T08:57:27.488" v="2039" actId="20577"/>
        <pc:sldMkLst>
          <pc:docMk/>
          <pc:sldMk cId="892748820" sldId="266"/>
        </pc:sldMkLst>
        <pc:spChg chg="mod">
          <ac:chgData name="Wycliffe Bahati" userId="c4ed4dfab12a01ee" providerId="LiveId" clId="{190BCBB6-8000-4457-A421-2B0384F70C55}" dt="2022-06-04T08:21:21.517" v="505" actId="20577"/>
          <ac:spMkLst>
            <pc:docMk/>
            <pc:sldMk cId="892748820" sldId="266"/>
            <ac:spMk id="2" creationId="{00000000-0000-0000-0000-000000000000}"/>
          </ac:spMkLst>
        </pc:spChg>
        <pc:spChg chg="mod">
          <ac:chgData name="Wycliffe Bahati" userId="c4ed4dfab12a01ee" providerId="LiveId" clId="{190BCBB6-8000-4457-A421-2B0384F70C55}" dt="2022-06-04T08:57:27.488" v="2039" actId="20577"/>
          <ac:spMkLst>
            <pc:docMk/>
            <pc:sldMk cId="892748820" sldId="266"/>
            <ac:spMk id="3" creationId="{478CEAD2-459D-4ED6-B490-3D61E44CF8FA}"/>
          </ac:spMkLst>
        </pc:spChg>
      </pc:sldChg>
      <pc:sldChg chg="del">
        <pc:chgData name="Wycliffe Bahati" userId="c4ed4dfab12a01ee" providerId="LiveId" clId="{190BCBB6-8000-4457-A421-2B0384F70C55}" dt="2022-06-04T07:56:55.845" v="117" actId="2696"/>
        <pc:sldMkLst>
          <pc:docMk/>
          <pc:sldMk cId="3683544629" sldId="266"/>
        </pc:sldMkLst>
      </pc:sldChg>
      <pc:sldChg chg="modSp add">
        <pc:chgData name="Wycliffe Bahati" userId="c4ed4dfab12a01ee" providerId="LiveId" clId="{190BCBB6-8000-4457-A421-2B0384F70C55}" dt="2022-06-04T08:50:13.066" v="1243" actId="33524"/>
        <pc:sldMkLst>
          <pc:docMk/>
          <pc:sldMk cId="1303198906" sldId="267"/>
        </pc:sldMkLst>
        <pc:spChg chg="mod">
          <ac:chgData name="Wycliffe Bahati" userId="c4ed4dfab12a01ee" providerId="LiveId" clId="{190BCBB6-8000-4457-A421-2B0384F70C55}" dt="2022-06-04T07:57:56.780" v="150" actId="20577"/>
          <ac:spMkLst>
            <pc:docMk/>
            <pc:sldMk cId="1303198906" sldId="267"/>
            <ac:spMk id="2" creationId="{00000000-0000-0000-0000-000000000000}"/>
          </ac:spMkLst>
        </pc:spChg>
        <pc:graphicFrameChg chg="mod modGraphic">
          <ac:chgData name="Wycliffe Bahati" userId="c4ed4dfab12a01ee" providerId="LiveId" clId="{190BCBB6-8000-4457-A421-2B0384F70C55}" dt="2022-06-04T08:50:13.066" v="1243" actId="33524"/>
          <ac:graphicFrameMkLst>
            <pc:docMk/>
            <pc:sldMk cId="1303198906" sldId="267"/>
            <ac:graphicFrameMk id="5" creationId="{CB7F504D-C84F-4460-B388-703E0F1CFCFE}"/>
          </ac:graphicFrameMkLst>
        </pc:graphicFrameChg>
      </pc:sldChg>
      <pc:sldChg chg="del">
        <pc:chgData name="Wycliffe Bahati" userId="c4ed4dfab12a01ee" providerId="LiveId" clId="{190BCBB6-8000-4457-A421-2B0384F70C55}" dt="2022-06-04T07:56:57.010" v="118" actId="2696"/>
        <pc:sldMkLst>
          <pc:docMk/>
          <pc:sldMk cId="1315647518" sldId="268"/>
        </pc:sldMkLst>
      </pc:sldChg>
      <pc:sldChg chg="delSp modSp add ord">
        <pc:chgData name="Wycliffe Bahati" userId="c4ed4dfab12a01ee" providerId="LiveId" clId="{190BCBB6-8000-4457-A421-2B0384F70C55}" dt="2022-06-04T08:55:45.875" v="2006" actId="5793"/>
        <pc:sldMkLst>
          <pc:docMk/>
          <pc:sldMk cId="4132457478" sldId="268"/>
        </pc:sldMkLst>
        <pc:spChg chg="del">
          <ac:chgData name="Wycliffe Bahati" userId="c4ed4dfab12a01ee" providerId="LiveId" clId="{190BCBB6-8000-4457-A421-2B0384F70C55}" dt="2022-06-04T08:50:45.050" v="1246" actId="478"/>
          <ac:spMkLst>
            <pc:docMk/>
            <pc:sldMk cId="4132457478" sldId="268"/>
            <ac:spMk id="3" creationId="{00000000-0000-0000-0000-000000000000}"/>
          </ac:spMkLst>
        </pc:spChg>
        <pc:spChg chg="mod">
          <ac:chgData name="Wycliffe Bahati" userId="c4ed4dfab12a01ee" providerId="LiveId" clId="{190BCBB6-8000-4457-A421-2B0384F70C55}" dt="2022-06-04T08:55:45.875" v="2006" actId="5793"/>
          <ac:spMkLst>
            <pc:docMk/>
            <pc:sldMk cId="4132457478" sldId="268"/>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4/06/2022</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4/06/2022</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4/06/2022</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4/06/2022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4/06/2022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4/06/2022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4/06/2022</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4/06/2022</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4/06/2022</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4/06/2022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4/06/2022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4/06/2022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4/06/2022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4/06/2022</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Deviations in Scrum</a:t>
            </a:r>
          </a:p>
        </p:txBody>
      </p:sp>
      <p:sp>
        <p:nvSpPr>
          <p:cNvPr id="7" name="Subtitle 6"/>
          <p:cNvSpPr>
            <a:spLocks noGrp="1"/>
          </p:cNvSpPr>
          <p:nvPr>
            <p:ph type="subTitle" idx="1"/>
          </p:nvPr>
        </p:nvSpPr>
        <p:spPr/>
        <p:txBody>
          <a:bodyPr/>
          <a:lstStyle/>
          <a:p>
            <a:r>
              <a:rPr lang="en-US" dirty="0"/>
              <a:t>Subtitle</a:t>
            </a:r>
          </a:p>
        </p:txBody>
      </p:sp>
      <p:pic>
        <p:nvPicPr>
          <p:cNvPr id="2" name="Picture 1">
            <a:extLst>
              <a:ext uri="{FF2B5EF4-FFF2-40B4-BE49-F238E27FC236}">
                <a16:creationId xmlns:a16="http://schemas.microsoft.com/office/drawing/2014/main" id="{B29C1000-CE07-4F0A-A31D-7FEF3F9F36A2}"/>
              </a:ext>
            </a:extLst>
          </p:cNvPr>
          <p:cNvPicPr>
            <a:picLocks noChangeAspect="1"/>
          </p:cNvPicPr>
          <p:nvPr/>
        </p:nvPicPr>
        <p:blipFill>
          <a:blip r:embed="rId3"/>
          <a:stretch>
            <a:fillRect/>
          </a:stretch>
        </p:blipFill>
        <p:spPr>
          <a:xfrm>
            <a:off x="6508800" y="2346216"/>
            <a:ext cx="5122520" cy="2561260"/>
          </a:xfrm>
          <a:prstGeom prst="rect">
            <a:avLst/>
          </a:prstGeo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Scrum deviations</a:t>
            </a:r>
          </a:p>
        </p:txBody>
      </p:sp>
      <p:sp>
        <p:nvSpPr>
          <p:cNvPr id="14" name="Content Placeholder 13"/>
          <p:cNvSpPr>
            <a:spLocks noGrp="1"/>
          </p:cNvSpPr>
          <p:nvPr>
            <p:ph idx="1"/>
          </p:nvPr>
        </p:nvSpPr>
        <p:spPr/>
        <p:txBody>
          <a:bodyPr>
            <a:normAutofit/>
          </a:bodyPr>
          <a:lstStyle/>
          <a:p>
            <a:r>
              <a:rPr lang="en-US" dirty="0"/>
              <a:t>Introduction</a:t>
            </a:r>
          </a:p>
          <a:p>
            <a:r>
              <a:rPr lang="en-US" dirty="0"/>
              <a:t>Properties of and ideal sprint</a:t>
            </a:r>
          </a:p>
          <a:p>
            <a:pPr lvl="1"/>
            <a:r>
              <a:rPr lang="en-US" dirty="0"/>
              <a:t>What should be fixed during a sprint</a:t>
            </a:r>
          </a:p>
          <a:p>
            <a:r>
              <a:rPr lang="en-US" dirty="0"/>
              <a:t>Different situations leading to deviations</a:t>
            </a:r>
          </a:p>
          <a:p>
            <a:pPr lvl="1"/>
            <a:r>
              <a:rPr lang="en-US" dirty="0"/>
              <a:t>Reasons for occurrence</a:t>
            </a:r>
          </a:p>
          <a:p>
            <a:pPr lvl="1"/>
            <a:r>
              <a:rPr lang="en-US" dirty="0"/>
              <a:t>Problems they cause</a:t>
            </a:r>
          </a:p>
          <a:p>
            <a:pPr lvl="1"/>
            <a:r>
              <a:rPr lang="en-US" dirty="0"/>
              <a:t>Contradictions to sprint ideals</a:t>
            </a:r>
          </a:p>
          <a:p>
            <a:r>
              <a:rPr lang="en-US" dirty="0"/>
              <a:t>How scrum teams can handle deviations</a:t>
            </a:r>
          </a:p>
          <a:p>
            <a:r>
              <a:rPr lang="en-US" dirty="0"/>
              <a:t>Example of a Scrum deviation</a:t>
            </a:r>
          </a:p>
          <a:p>
            <a:pPr lvl="1"/>
            <a:r>
              <a:rPr lang="en-US" dirty="0"/>
              <a:t>Solutions to the scrum deviation</a:t>
            </a:r>
          </a:p>
          <a:p>
            <a:r>
              <a:rPr lang="en-US" dirty="0"/>
              <a:t>Summary</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478CEAD2-459D-4ED6-B490-3D61E44CF8FA}"/>
              </a:ext>
            </a:extLst>
          </p:cNvPr>
          <p:cNvSpPr>
            <a:spLocks noGrp="1"/>
          </p:cNvSpPr>
          <p:nvPr>
            <p:ph idx="1"/>
          </p:nvPr>
        </p:nvSpPr>
        <p:spPr/>
        <p:txBody>
          <a:bodyPr/>
          <a:lstStyle/>
          <a:p>
            <a:r>
              <a:rPr lang="en-US" dirty="0"/>
              <a:t>Scrum revolves around planning and executing sprints. During a project, all sprints should have the same length. This allows to determine the development team’s velocity, making estimates more accurate. Even though sprints</a:t>
            </a:r>
            <a:br>
              <a:rPr lang="en-US" dirty="0"/>
            </a:br>
            <a:r>
              <a:rPr lang="en-US" dirty="0"/>
              <a:t>are relatively short, deviations still happen. That is, the team takes longer or shorter to complete a backlog item than estimated, requirements change during the sprint, or more urgent tasks are pushed in by a team lead.</a:t>
            </a:r>
            <a:br>
              <a:rPr lang="en-US" dirty="0"/>
            </a:br>
            <a:endParaRPr lang="en-US" dirty="0"/>
          </a:p>
          <a:p>
            <a:endParaRPr lang="en-US" dirty="0"/>
          </a:p>
        </p:txBody>
      </p:sp>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an Ideal Sprint</a:t>
            </a:r>
          </a:p>
        </p:txBody>
      </p:sp>
      <p:sp>
        <p:nvSpPr>
          <p:cNvPr id="3" name="Content Placeholder 2"/>
          <p:cNvSpPr>
            <a:spLocks noGrp="1"/>
          </p:cNvSpPr>
          <p:nvPr>
            <p:ph sz="half" idx="1"/>
          </p:nvPr>
        </p:nvSpPr>
        <p:spPr/>
        <p:txBody>
          <a:bodyPr/>
          <a:lstStyle/>
          <a:p>
            <a:r>
              <a:rPr lang="en-US" dirty="0"/>
              <a:t>All sprints are timeboxed which means they have a start date and end date </a:t>
            </a:r>
          </a:p>
          <a:p>
            <a:r>
              <a:rPr lang="en-US" dirty="0"/>
              <a:t>Produce a potentially shippable product at the end of the sprint</a:t>
            </a:r>
          </a:p>
          <a:p>
            <a:r>
              <a:rPr lang="en-US" dirty="0"/>
              <a:t>Sprints last a specific timeframe mostly between 2-4 weeks</a:t>
            </a:r>
          </a:p>
          <a:p>
            <a:r>
              <a:rPr lang="en-US" dirty="0"/>
              <a:t>No changes are made to the goals or personnel during the sprint</a:t>
            </a:r>
          </a:p>
          <a:p>
            <a:endParaRPr lang="en-US" dirty="0"/>
          </a:p>
        </p:txBody>
      </p:sp>
      <p:graphicFrame>
        <p:nvGraphicFramePr>
          <p:cNvPr id="16" name="Content Placeholder 15"/>
          <p:cNvGraphicFramePr>
            <a:graphicFrameLocks noGrp="1"/>
          </p:cNvGraphicFramePr>
          <p:nvPr>
            <p:ph sz="half" idx="2"/>
            <p:extLst>
              <p:ext uri="{D42A27DB-BD31-4B8C-83A1-F6EECF244321}">
                <p14:modId xmlns:p14="http://schemas.microsoft.com/office/powerpoint/2010/main" val="9302075"/>
              </p:ext>
            </p:extLst>
          </p:nvPr>
        </p:nvGraphicFramePr>
        <p:xfrm>
          <a:off x="6695800" y="2246531"/>
          <a:ext cx="4914900" cy="2468880"/>
        </p:xfrm>
        <a:graphic>
          <a:graphicData uri="http://schemas.openxmlformats.org/drawingml/2006/table">
            <a:tbl>
              <a:tblPr firstRow="1" bandRow="1">
                <a:tableStyleId>{5C22544A-7EE6-4342-B048-85BDC9FD1C3A}</a:tableStyleId>
              </a:tblPr>
              <a:tblGrid>
                <a:gridCol w="4914900">
                  <a:extLst>
                    <a:ext uri="{9D8B030D-6E8A-4147-A177-3AD203B41FA5}">
                      <a16:colId xmlns:a16="http://schemas.microsoft.com/office/drawing/2014/main" val="20000"/>
                    </a:ext>
                  </a:extLst>
                </a:gridCol>
              </a:tblGrid>
              <a:tr h="457200">
                <a:tc>
                  <a:txBody>
                    <a:bodyPr/>
                    <a:lstStyle/>
                    <a:p>
                      <a:r>
                        <a:rPr lang="en-US" dirty="0"/>
                        <a:t>Reason sprints are time boxed</a:t>
                      </a:r>
                      <a:endParaRPr dirty="0"/>
                    </a:p>
                  </a:txBody>
                  <a:tcPr anchor="ctr"/>
                </a:tc>
                <a:extLst>
                  <a:ext uri="{0D108BD9-81ED-4DB2-BD59-A6C34878D82A}">
                    <a16:rowId xmlns:a16="http://schemas.microsoft.com/office/drawing/2014/main" val="10000"/>
                  </a:ext>
                </a:extLst>
              </a:tr>
              <a:tr h="457200">
                <a:tc>
                  <a:txBody>
                    <a:bodyPr/>
                    <a:lstStyle/>
                    <a:p>
                      <a:r>
                        <a:rPr lang="en-US" dirty="0"/>
                        <a:t>Motivate closure</a:t>
                      </a:r>
                      <a:endParaRPr dirty="0"/>
                    </a:p>
                  </a:txBody>
                  <a:tcPr anchor="ctr"/>
                </a:tc>
                <a:extLst>
                  <a:ext uri="{0D108BD9-81ED-4DB2-BD59-A6C34878D82A}">
                    <a16:rowId xmlns:a16="http://schemas.microsoft.com/office/drawing/2014/main" val="10001"/>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Demonstrate progress</a:t>
                      </a:r>
                    </a:p>
                  </a:txBody>
                  <a:tcPr anchor="ctr"/>
                </a:tc>
                <a:extLst>
                  <a:ext uri="{0D108BD9-81ED-4DB2-BD59-A6C34878D82A}">
                    <a16:rowId xmlns:a16="http://schemas.microsoft.com/office/drawing/2014/main" val="10002"/>
                  </a:ext>
                </a:extLst>
              </a:tr>
              <a:tr h="152400">
                <a:tc>
                  <a:txBody>
                    <a:bodyPr/>
                    <a:lstStyle/>
                    <a:p>
                      <a:r>
                        <a:rPr lang="en-US" dirty="0"/>
                        <a:t>Improve predictability</a:t>
                      </a:r>
                      <a:endParaRPr dirty="0"/>
                    </a:p>
                  </a:txBody>
                  <a:tcPr anchor="ctr"/>
                </a:tc>
                <a:extLst>
                  <a:ext uri="{0D108BD9-81ED-4DB2-BD59-A6C34878D82A}">
                    <a16:rowId xmlns:a16="http://schemas.microsoft.com/office/drawing/2014/main" val="10003"/>
                  </a:ext>
                </a:extLst>
              </a:tr>
              <a:tr h="213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Force prioritization</a:t>
                      </a:r>
                    </a:p>
                  </a:txBody>
                  <a:tcPr anchor="ctr"/>
                </a:tc>
                <a:extLst>
                  <a:ext uri="{0D108BD9-81ED-4DB2-BD59-A6C34878D82A}">
                    <a16:rowId xmlns:a16="http://schemas.microsoft.com/office/drawing/2014/main" val="968626602"/>
                  </a:ext>
                </a:extLst>
              </a:tr>
              <a:tr h="152400">
                <a:tc>
                  <a:txBody>
                    <a:bodyPr/>
                    <a:lstStyle/>
                    <a:p>
                      <a:r>
                        <a:rPr lang="en-US" dirty="0"/>
                        <a:t>Establish work in progress limits</a:t>
                      </a:r>
                      <a:endParaRPr dirty="0"/>
                    </a:p>
                  </a:txBody>
                  <a:tcPr anchor="ctr"/>
                </a:tc>
                <a:extLst>
                  <a:ext uri="{0D108BD9-81ED-4DB2-BD59-A6C34878D82A}">
                    <a16:rowId xmlns:a16="http://schemas.microsoft.com/office/drawing/2014/main" val="419918621"/>
                  </a:ext>
                </a:extLst>
              </a:tr>
            </a:tbl>
          </a:graphicData>
        </a:graphic>
      </p:graphicFrame>
      <p:sp>
        <p:nvSpPr>
          <p:cNvPr id="4" name="TextBox 3">
            <a:extLst>
              <a:ext uri="{FF2B5EF4-FFF2-40B4-BE49-F238E27FC236}">
                <a16:creationId xmlns:a16="http://schemas.microsoft.com/office/drawing/2014/main" id="{7E0E78E8-DA8B-4002-850C-ADC32C61BFCA}"/>
              </a:ext>
            </a:extLst>
          </p:cNvPr>
          <p:cNvSpPr txBox="1"/>
          <p:nvPr/>
        </p:nvSpPr>
        <p:spPr>
          <a:xfrm>
            <a:off x="6695800" y="1600200"/>
            <a:ext cx="4389782" cy="646331"/>
          </a:xfrm>
          <a:prstGeom prst="rect">
            <a:avLst/>
          </a:prstGeom>
          <a:noFill/>
        </p:spPr>
        <p:txBody>
          <a:bodyPr wrap="square" rtlCol="0">
            <a:spAutoFit/>
          </a:bodyPr>
          <a:lstStyle/>
          <a:p>
            <a:r>
              <a:rPr lang="en-US" dirty="0"/>
              <a:t>The sprint duration should be fixed because of the following reason</a:t>
            </a:r>
          </a:p>
        </p:txBody>
      </p:sp>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Situations leading to deviations </a:t>
            </a:r>
          </a:p>
        </p:txBody>
      </p:sp>
      <p:graphicFrame>
        <p:nvGraphicFramePr>
          <p:cNvPr id="5" name="Table 5">
            <a:extLst>
              <a:ext uri="{FF2B5EF4-FFF2-40B4-BE49-F238E27FC236}">
                <a16:creationId xmlns:a16="http://schemas.microsoft.com/office/drawing/2014/main" id="{CB7F504D-C84F-4460-B388-703E0F1CFCFE}"/>
              </a:ext>
            </a:extLst>
          </p:cNvPr>
          <p:cNvGraphicFramePr>
            <a:graphicFrameLocks noGrp="1"/>
          </p:cNvGraphicFramePr>
          <p:nvPr>
            <p:extLst>
              <p:ext uri="{D42A27DB-BD31-4B8C-83A1-F6EECF244321}">
                <p14:modId xmlns:p14="http://schemas.microsoft.com/office/powerpoint/2010/main" val="652011057"/>
              </p:ext>
            </p:extLst>
          </p:nvPr>
        </p:nvGraphicFramePr>
        <p:xfrm>
          <a:off x="662608" y="1342519"/>
          <a:ext cx="10634453" cy="5336725"/>
        </p:xfrm>
        <a:graphic>
          <a:graphicData uri="http://schemas.openxmlformats.org/drawingml/2006/table">
            <a:tbl>
              <a:tblPr firstRow="1" bandRow="1">
                <a:tableStyleId>{5C22544A-7EE6-4342-B048-85BDC9FD1C3A}</a:tableStyleId>
              </a:tblPr>
              <a:tblGrid>
                <a:gridCol w="2654814">
                  <a:extLst>
                    <a:ext uri="{9D8B030D-6E8A-4147-A177-3AD203B41FA5}">
                      <a16:colId xmlns:a16="http://schemas.microsoft.com/office/drawing/2014/main" val="2567896766"/>
                    </a:ext>
                  </a:extLst>
                </a:gridCol>
                <a:gridCol w="3176143">
                  <a:extLst>
                    <a:ext uri="{9D8B030D-6E8A-4147-A177-3AD203B41FA5}">
                      <a16:colId xmlns:a16="http://schemas.microsoft.com/office/drawing/2014/main" val="3762232547"/>
                    </a:ext>
                  </a:extLst>
                </a:gridCol>
                <a:gridCol w="2144883">
                  <a:extLst>
                    <a:ext uri="{9D8B030D-6E8A-4147-A177-3AD203B41FA5}">
                      <a16:colId xmlns:a16="http://schemas.microsoft.com/office/drawing/2014/main" val="811936086"/>
                    </a:ext>
                  </a:extLst>
                </a:gridCol>
                <a:gridCol w="2658613">
                  <a:extLst>
                    <a:ext uri="{9D8B030D-6E8A-4147-A177-3AD203B41FA5}">
                      <a16:colId xmlns:a16="http://schemas.microsoft.com/office/drawing/2014/main" val="3273026561"/>
                    </a:ext>
                  </a:extLst>
                </a:gridCol>
              </a:tblGrid>
              <a:tr h="897099">
                <a:tc>
                  <a:txBody>
                    <a:bodyPr/>
                    <a:lstStyle/>
                    <a:p>
                      <a:pPr algn="ctr" fontAlgn="b"/>
                      <a:r>
                        <a:rPr lang="en-US" sz="2000" b="0" i="0" u="none" strike="noStrike" dirty="0">
                          <a:solidFill>
                            <a:schemeClr val="bg2"/>
                          </a:solidFill>
                          <a:effectLst/>
                          <a:latin typeface="Calibri" panose="020F0502020204030204" pitchFamily="34" charset="0"/>
                        </a:rPr>
                        <a:t>Situation leading to deviations in a sprint</a:t>
                      </a:r>
                    </a:p>
                  </a:txBody>
                  <a:tcPr marL="9525" marR="9525" marT="9525" marB="0" anchor="b"/>
                </a:tc>
                <a:tc>
                  <a:txBody>
                    <a:bodyPr/>
                    <a:lstStyle/>
                    <a:p>
                      <a:pPr algn="ctr" fontAlgn="b"/>
                      <a:r>
                        <a:rPr lang="en-US" sz="2000" b="0" i="0" u="none" strike="noStrike" dirty="0">
                          <a:solidFill>
                            <a:schemeClr val="bg2"/>
                          </a:solidFill>
                          <a:effectLst/>
                          <a:latin typeface="Calibri" panose="020F0502020204030204" pitchFamily="34" charset="0"/>
                        </a:rPr>
                        <a:t>Reasons for occurrence</a:t>
                      </a:r>
                    </a:p>
                  </a:txBody>
                  <a:tcPr marL="9525" marR="9525" marT="9525" marB="0" anchor="b"/>
                </a:tc>
                <a:tc>
                  <a:txBody>
                    <a:bodyPr/>
                    <a:lstStyle/>
                    <a:p>
                      <a:pPr algn="ctr" fontAlgn="b"/>
                      <a:r>
                        <a:rPr lang="en-US" sz="2000" b="0" i="0" u="none" strike="noStrike" dirty="0">
                          <a:solidFill>
                            <a:schemeClr val="bg2"/>
                          </a:solidFill>
                          <a:effectLst/>
                          <a:latin typeface="Calibri" panose="020F0502020204030204" pitchFamily="34" charset="0"/>
                        </a:rPr>
                        <a:t>Problems caused</a:t>
                      </a:r>
                    </a:p>
                  </a:txBody>
                  <a:tcPr marL="9525" marR="9525" marT="9525" marB="0" anchor="b"/>
                </a:tc>
                <a:tc>
                  <a:txBody>
                    <a:bodyPr/>
                    <a:lstStyle/>
                    <a:p>
                      <a:pPr algn="ctr" fontAlgn="b"/>
                      <a:r>
                        <a:rPr lang="en-US" sz="2000" b="0" i="0" u="none" strike="noStrike" dirty="0">
                          <a:solidFill>
                            <a:schemeClr val="bg2"/>
                          </a:solidFill>
                          <a:effectLst/>
                          <a:latin typeface="Calibri" panose="020F0502020204030204" pitchFamily="34" charset="0"/>
                        </a:rPr>
                        <a:t>How they contradict ideals of a sprint</a:t>
                      </a:r>
                    </a:p>
                  </a:txBody>
                  <a:tcPr marL="9525" marR="9525" marT="9525" marB="0" anchor="b"/>
                </a:tc>
                <a:extLst>
                  <a:ext uri="{0D108BD9-81ED-4DB2-BD59-A6C34878D82A}">
                    <a16:rowId xmlns:a16="http://schemas.microsoft.com/office/drawing/2014/main" val="374083791"/>
                  </a:ext>
                </a:extLst>
              </a:tr>
              <a:tr h="0">
                <a:tc>
                  <a:txBody>
                    <a:bodyPr/>
                    <a:lstStyle/>
                    <a:p>
                      <a:pPr algn="l" fontAlgn="b"/>
                      <a:endParaRPr lang="en-US" sz="1200" b="0" i="0" u="none" strike="noStrike" dirty="0">
                        <a:solidFill>
                          <a:srgbClr val="000000"/>
                        </a:solidFill>
                        <a:effectLst/>
                        <a:latin typeface="Calibri" panose="020F0502020204030204" pitchFamily="34" charset="0"/>
                      </a:endParaRPr>
                    </a:p>
                    <a:p>
                      <a:pPr algn="l" fontAlgn="b"/>
                      <a:r>
                        <a:rPr lang="en-US" sz="1200" b="0" i="0" u="none" strike="noStrike" dirty="0">
                          <a:solidFill>
                            <a:srgbClr val="000000"/>
                          </a:solidFill>
                          <a:effectLst/>
                          <a:latin typeface="Calibri" panose="020F0502020204030204" pitchFamily="34" charset="0"/>
                        </a:rPr>
                        <a:t>Team takes longer or shorter to complete a backlog item</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than estimated,</a:t>
                      </a:r>
                    </a:p>
                    <a:p>
                      <a:pPr algn="l" fontAlgn="b"/>
                      <a:endParaRPr lang="en-US" sz="1200" b="0" i="0" u="none" strike="noStrike" dirty="0">
                        <a:solidFill>
                          <a:srgbClr val="000000"/>
                        </a:solidFill>
                        <a:effectLst/>
                        <a:latin typeface="Calibri" panose="020F0502020204030204" pitchFamily="34" charset="0"/>
                      </a:endParaRPr>
                    </a:p>
                    <a:p>
                      <a:pPr algn="l" fontAlgn="b"/>
                      <a:endParaRPr lang="en-US"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200" b="0" i="0" u="none" strike="noStrike" dirty="0">
                          <a:solidFill>
                            <a:srgbClr val="000000"/>
                          </a:solidFill>
                          <a:effectLst/>
                          <a:latin typeface="Calibri" panose="020F0502020204030204" pitchFamily="34" charset="0"/>
                        </a:rPr>
                        <a:t> - over estimating or underestimating the team's velocity. </a:t>
                      </a:r>
                    </a:p>
                    <a:p>
                      <a:pPr marL="171450" indent="-171450" algn="l" fontAlgn="b">
                        <a:buFontTx/>
                        <a:buChar char="-"/>
                      </a:pPr>
                      <a:r>
                        <a:rPr lang="en-US" sz="1200" b="0" i="0" u="none" strike="noStrike" dirty="0">
                          <a:solidFill>
                            <a:srgbClr val="000000"/>
                          </a:solidFill>
                          <a:effectLst/>
                          <a:latin typeface="Calibri" panose="020F0502020204030204" pitchFamily="34" charset="0"/>
                        </a:rPr>
                        <a:t>lack of retrospect at the end of the sprint to review the performance of the team</a:t>
                      </a:r>
                    </a:p>
                    <a:p>
                      <a:pPr marL="171450" indent="-171450" algn="l" fontAlgn="b">
                        <a:buFontTx/>
                        <a:buChar char="-"/>
                      </a:pPr>
                      <a:r>
                        <a:rPr lang="en-US" sz="1200" b="0" i="0" u="none" strike="noStrike" dirty="0">
                          <a:solidFill>
                            <a:srgbClr val="000000"/>
                          </a:solidFill>
                          <a:effectLst/>
                          <a:latin typeface="Calibri" panose="020F0502020204030204" pitchFamily="34" charset="0"/>
                        </a:rPr>
                        <a:t>Taking on work that has dependencies from other team and not factoring it in the spring backlog</a:t>
                      </a:r>
                    </a:p>
                  </a:txBody>
                  <a:tcPr marL="9525" marR="9525" marT="9525" marB="0"/>
                </a:tc>
                <a:tc>
                  <a:txBody>
                    <a:bodyPr/>
                    <a:lstStyle/>
                    <a:p>
                      <a:pPr marL="171450" indent="-171450" algn="l" fontAlgn="b">
                        <a:buFontTx/>
                        <a:buChar char="-"/>
                      </a:pPr>
                      <a:r>
                        <a:rPr lang="en-US" sz="1200" b="0" i="0" u="none" strike="noStrike" dirty="0">
                          <a:solidFill>
                            <a:srgbClr val="000000"/>
                          </a:solidFill>
                          <a:effectLst/>
                          <a:latin typeface="Calibri" panose="020F0502020204030204" pitchFamily="34" charset="0"/>
                        </a:rPr>
                        <a:t>reduce teams' cohesion and unfruitful sprint reviews to move the work forward</a:t>
                      </a:r>
                    </a:p>
                    <a:p>
                      <a:pPr marL="171450" indent="-171450" algn="l" fontAlgn="b">
                        <a:buFontTx/>
                        <a:buChar char="-"/>
                      </a:pPr>
                      <a:r>
                        <a:rPr lang="en-US" sz="1200" b="0" i="0" u="none" strike="noStrike" dirty="0">
                          <a:solidFill>
                            <a:srgbClr val="000000"/>
                          </a:solidFill>
                          <a:effectLst/>
                          <a:latin typeface="Calibri" panose="020F0502020204030204" pitchFamily="34" charset="0"/>
                        </a:rPr>
                        <a:t>Team not able to produce the increment to the satisfaction of the user in time</a:t>
                      </a:r>
                    </a:p>
                    <a:p>
                      <a:pPr marL="171450" indent="-171450" algn="l" fontAlgn="b">
                        <a:buFontTx/>
                        <a:buChar char="-"/>
                      </a:pPr>
                      <a:r>
                        <a:rPr lang="en-US" sz="1200" b="0" i="0" u="none" strike="noStrike" dirty="0">
                          <a:solidFill>
                            <a:srgbClr val="000000"/>
                          </a:solidFill>
                          <a:effectLst/>
                          <a:latin typeface="Calibri" panose="020F0502020204030204" pitchFamily="34" charset="0"/>
                        </a:rPr>
                        <a:t>In the case where there are dependencies if the team takes shorter to finish the task, then it might lead to the team being idle</a:t>
                      </a:r>
                    </a:p>
                  </a:txBody>
                  <a:tcPr marL="9525" marR="9525" marT="9525" marB="0" anchor="b"/>
                </a:tc>
                <a:tc>
                  <a:txBody>
                    <a:bodyPr/>
                    <a:lstStyle/>
                    <a:p>
                      <a:pPr algn="l" fontAlgn="b"/>
                      <a:r>
                        <a:rPr lang="en-US" sz="1200" b="0" i="0" u="none" strike="noStrike" dirty="0">
                          <a:solidFill>
                            <a:srgbClr val="000000"/>
                          </a:solidFill>
                          <a:effectLst/>
                          <a:latin typeface="Calibri" panose="020F0502020204030204" pitchFamily="34" charset="0"/>
                        </a:rPr>
                        <a:t>- All sprints are time boxed and have start and finish timelines.</a:t>
                      </a:r>
                    </a:p>
                  </a:txBody>
                  <a:tcPr marL="9525" marR="9525" marT="9525" marB="0"/>
                </a:tc>
                <a:extLst>
                  <a:ext uri="{0D108BD9-81ED-4DB2-BD59-A6C34878D82A}">
                    <a16:rowId xmlns:a16="http://schemas.microsoft.com/office/drawing/2014/main" val="1068842146"/>
                  </a:ext>
                </a:extLst>
              </a:tr>
              <a:tr h="1128736">
                <a:tc>
                  <a:txBody>
                    <a:bodyPr/>
                    <a:lstStyle/>
                    <a:p>
                      <a:pPr algn="l" fontAlgn="b"/>
                      <a:r>
                        <a:rPr lang="en-US" sz="1200" b="0" i="0" u="none" strike="noStrike" dirty="0">
                          <a:solidFill>
                            <a:srgbClr val="000000"/>
                          </a:solidFill>
                          <a:effectLst/>
                          <a:latin typeface="Calibri" panose="020F0502020204030204" pitchFamily="34" charset="0"/>
                        </a:rPr>
                        <a:t>Requirements change during the sprint,</a:t>
                      </a:r>
                    </a:p>
                    <a:p>
                      <a:pPr algn="l" fontAlgn="b"/>
                      <a:endParaRPr lang="en-US"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200" b="0" i="0" u="none" strike="noStrike" dirty="0">
                          <a:solidFill>
                            <a:srgbClr val="000000"/>
                          </a:solidFill>
                          <a:effectLst/>
                          <a:latin typeface="Calibri" panose="020F0502020204030204" pitchFamily="34" charset="0"/>
                        </a:rPr>
                        <a:t> -  Product Backlog that isn't refined enough</a:t>
                      </a:r>
                    </a:p>
                    <a:p>
                      <a:pPr marL="171450" indent="-171450" algn="l" fontAlgn="b">
                        <a:buFontTx/>
                        <a:buChar char="-"/>
                      </a:pPr>
                      <a:r>
                        <a:rPr lang="en-US" sz="1200" b="0" i="0" u="none" strike="noStrike" dirty="0">
                          <a:solidFill>
                            <a:srgbClr val="000000"/>
                          </a:solidFill>
                          <a:effectLst/>
                          <a:latin typeface="Calibri" panose="020F0502020204030204" pitchFamily="34" charset="0"/>
                        </a:rPr>
                        <a:t>changes beyond the team's control such as change in technology</a:t>
                      </a:r>
                    </a:p>
                    <a:p>
                      <a:pPr marL="171450" indent="-171450" algn="l" fontAlgn="b">
                        <a:buFontTx/>
                        <a:buChar char="-"/>
                      </a:pPr>
                      <a:r>
                        <a:rPr lang="en-US" sz="1200" b="0" i="0" u="none" strike="noStrike" dirty="0">
                          <a:solidFill>
                            <a:srgbClr val="000000"/>
                          </a:solidFill>
                          <a:effectLst/>
                          <a:latin typeface="Calibri" panose="020F0502020204030204" pitchFamily="34" charset="0"/>
                        </a:rPr>
                        <a:t>not defining the definition of done for the sprint</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  - user is not involved sufficiently when designing the product catalogue </a:t>
                      </a:r>
                    </a:p>
                  </a:txBody>
                  <a:tcPr marL="9525" marR="9525" marT="9525" marB="0"/>
                </a:tc>
                <a:tc>
                  <a:txBody>
                    <a:bodyPr/>
                    <a:lstStyle/>
                    <a:p>
                      <a:pPr marL="171450" indent="-171450" algn="l" fontAlgn="b">
                        <a:buFontTx/>
                        <a:buChar char="-"/>
                      </a:pPr>
                      <a:r>
                        <a:rPr lang="en-US" sz="1200" b="0" i="0" u="none" strike="noStrike" dirty="0">
                          <a:solidFill>
                            <a:srgbClr val="000000"/>
                          </a:solidFill>
                          <a:effectLst/>
                          <a:latin typeface="Calibri" panose="020F0502020204030204" pitchFamily="34" charset="0"/>
                        </a:rPr>
                        <a:t>Endless product reviews at the end of the sprint</a:t>
                      </a:r>
                    </a:p>
                    <a:p>
                      <a:pPr marL="171450" indent="-171450" algn="l" fontAlgn="b">
                        <a:buFontTx/>
                        <a:buChar char="-"/>
                      </a:pPr>
                      <a:r>
                        <a:rPr lang="en-US" sz="1200" b="0" i="0" u="none" strike="noStrike" dirty="0">
                          <a:solidFill>
                            <a:srgbClr val="000000"/>
                          </a:solidFill>
                          <a:effectLst/>
                          <a:latin typeface="Calibri" panose="020F0502020204030204" pitchFamily="34" charset="0"/>
                        </a:rPr>
                        <a:t>Team might get disoriented and discouraged if the effort is not achieving the goal of the sprint</a:t>
                      </a:r>
                    </a:p>
                  </a:txBody>
                  <a:tcPr marL="9525" marR="9525" marT="9525" marB="0"/>
                </a:tc>
                <a:tc>
                  <a:txBody>
                    <a:bodyPr/>
                    <a:lstStyle/>
                    <a:p>
                      <a:pPr algn="l" fontAlgn="b"/>
                      <a:r>
                        <a:rPr lang="en-US" sz="1200" b="0" i="0" u="none" strike="noStrike" dirty="0">
                          <a:solidFill>
                            <a:srgbClr val="000000"/>
                          </a:solidFill>
                          <a:effectLst/>
                          <a:latin typeface="Calibri" panose="020F0502020204030204" pitchFamily="34" charset="0"/>
                        </a:rPr>
                        <a:t>- No changes are supposed to be made to the goals or personnel during the sprint</a:t>
                      </a:r>
                    </a:p>
                  </a:txBody>
                  <a:tcPr marL="9525" marR="9525" marT="9525" marB="0"/>
                </a:tc>
                <a:extLst>
                  <a:ext uri="{0D108BD9-81ED-4DB2-BD59-A6C34878D82A}">
                    <a16:rowId xmlns:a16="http://schemas.microsoft.com/office/drawing/2014/main" val="3886589931"/>
                  </a:ext>
                </a:extLst>
              </a:tr>
              <a:tr h="1128736">
                <a:tc>
                  <a:txBody>
                    <a:bodyPr/>
                    <a:lstStyle/>
                    <a:p>
                      <a:pPr algn="l" fontAlgn="b"/>
                      <a:r>
                        <a:rPr lang="en-US" sz="1200" b="0" i="0" u="none" strike="noStrike" dirty="0">
                          <a:solidFill>
                            <a:srgbClr val="000000"/>
                          </a:solidFill>
                          <a:effectLst/>
                          <a:latin typeface="Calibri" panose="020F0502020204030204" pitchFamily="34" charset="0"/>
                        </a:rPr>
                        <a:t>More urgent tasks are pushed in by a team lead</a:t>
                      </a:r>
                    </a:p>
                  </a:txBody>
                  <a:tcPr marL="9525" marR="9525" marT="9525" marB="0"/>
                </a:tc>
                <a:tc>
                  <a:txBody>
                    <a:bodyPr/>
                    <a:lstStyle/>
                    <a:p>
                      <a:pPr marL="171450" indent="-171450" algn="l" fontAlgn="b">
                        <a:buFontTx/>
                        <a:buChar char="-"/>
                      </a:pPr>
                      <a:r>
                        <a:rPr lang="en-US" sz="1200" b="0" i="0" u="none" strike="noStrike" dirty="0">
                          <a:solidFill>
                            <a:srgbClr val="000000"/>
                          </a:solidFill>
                          <a:effectLst/>
                          <a:latin typeface="Calibri" panose="020F0502020204030204" pitchFamily="34" charset="0"/>
                        </a:rPr>
                        <a:t>Senior management attempts to interfere with the teams work changing priorities</a:t>
                      </a:r>
                    </a:p>
                    <a:p>
                      <a:pPr marL="171450" indent="-171450" algn="l" fontAlgn="b">
                        <a:buFontTx/>
                        <a:buChar char="-"/>
                      </a:pPr>
                      <a:r>
                        <a:rPr lang="en-US" sz="1200" b="0" i="0" u="none" strike="noStrike" dirty="0">
                          <a:solidFill>
                            <a:srgbClr val="000000"/>
                          </a:solidFill>
                          <a:effectLst/>
                          <a:latin typeface="Calibri" panose="020F0502020204030204" pitchFamily="34" charset="0"/>
                        </a:rPr>
                        <a:t> not defining the sprint goal during sprint planning</a:t>
                      </a:r>
                    </a:p>
                  </a:txBody>
                  <a:tcPr marL="9525" marR="9525" marT="9525" marB="0"/>
                </a:tc>
                <a:tc>
                  <a:txBody>
                    <a:bodyPr/>
                    <a:lstStyle/>
                    <a:p>
                      <a:pPr algn="l" fontAlgn="b"/>
                      <a:r>
                        <a:rPr lang="en-US" sz="1200" b="0" i="0" u="none" strike="noStrike" dirty="0">
                          <a:solidFill>
                            <a:srgbClr val="000000"/>
                          </a:solidFill>
                          <a:effectLst/>
                          <a:latin typeface="Calibri" panose="020F0502020204030204" pitchFamily="34" charset="0"/>
                        </a:rPr>
                        <a:t>- The team is overwhelmed and not able to meet its targets</a:t>
                      </a:r>
                    </a:p>
                  </a:txBody>
                  <a:tcPr marL="9525" marR="9525" marT="9525" marB="0"/>
                </a:tc>
                <a:tc>
                  <a:txBody>
                    <a:bodyPr/>
                    <a:lstStyle/>
                    <a:p>
                      <a:pPr marL="171450" indent="-171450" algn="l" fontAlgn="b">
                        <a:buFontTx/>
                        <a:buChar char="-"/>
                      </a:pPr>
                      <a:r>
                        <a:rPr lang="en-US" sz="1200" b="0" i="0" u="none" strike="noStrike" dirty="0">
                          <a:solidFill>
                            <a:srgbClr val="000000"/>
                          </a:solidFill>
                          <a:effectLst/>
                          <a:latin typeface="Calibri" panose="020F0502020204030204" pitchFamily="34" charset="0"/>
                        </a:rPr>
                        <a:t>sprints are supposed to produce a potentially shippable product at the end of the sprint. More tasks might affect this</a:t>
                      </a:r>
                    </a:p>
                    <a:p>
                      <a:pPr marL="171450" indent="-171450" algn="l" fontAlgn="b">
                        <a:buFontTx/>
                        <a:buChar char="-"/>
                      </a:pPr>
                      <a:r>
                        <a:rPr lang="en-US" sz="1200" b="0" i="0" u="none" strike="noStrike" dirty="0">
                          <a:solidFill>
                            <a:srgbClr val="000000"/>
                          </a:solidFill>
                          <a:effectLst/>
                          <a:latin typeface="Calibri" panose="020F0502020204030204" pitchFamily="34" charset="0"/>
                        </a:rPr>
                        <a:t>No changes are supposed to be made to the goals or personnel during the sprint</a:t>
                      </a:r>
                    </a:p>
                  </a:txBody>
                  <a:tcPr marL="9525" marR="9525" marT="9525" marB="0"/>
                </a:tc>
                <a:extLst>
                  <a:ext uri="{0D108BD9-81ED-4DB2-BD59-A6C34878D82A}">
                    <a16:rowId xmlns:a16="http://schemas.microsoft.com/office/drawing/2014/main" val="3049814287"/>
                  </a:ext>
                </a:extLst>
              </a:tr>
            </a:tbl>
          </a:graphicData>
        </a:graphic>
      </p:graphicFrame>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deviations </a:t>
            </a:r>
          </a:p>
        </p:txBody>
      </p:sp>
      <p:graphicFrame>
        <p:nvGraphicFramePr>
          <p:cNvPr id="5" name="Table 5">
            <a:extLst>
              <a:ext uri="{FF2B5EF4-FFF2-40B4-BE49-F238E27FC236}">
                <a16:creationId xmlns:a16="http://schemas.microsoft.com/office/drawing/2014/main" id="{CB7F504D-C84F-4460-B388-703E0F1CFCFE}"/>
              </a:ext>
            </a:extLst>
          </p:cNvPr>
          <p:cNvGraphicFramePr>
            <a:graphicFrameLocks noGrp="1"/>
          </p:cNvGraphicFramePr>
          <p:nvPr>
            <p:extLst>
              <p:ext uri="{D42A27DB-BD31-4B8C-83A1-F6EECF244321}">
                <p14:modId xmlns:p14="http://schemas.microsoft.com/office/powerpoint/2010/main" val="4098286522"/>
              </p:ext>
            </p:extLst>
          </p:nvPr>
        </p:nvGraphicFramePr>
        <p:xfrm>
          <a:off x="778014" y="1375566"/>
          <a:ext cx="10634453" cy="5619594"/>
        </p:xfrm>
        <a:graphic>
          <a:graphicData uri="http://schemas.openxmlformats.org/drawingml/2006/table">
            <a:tbl>
              <a:tblPr firstRow="1" bandRow="1">
                <a:tableStyleId>{5C22544A-7EE6-4342-B048-85BDC9FD1C3A}</a:tableStyleId>
              </a:tblPr>
              <a:tblGrid>
                <a:gridCol w="3644348">
                  <a:extLst>
                    <a:ext uri="{9D8B030D-6E8A-4147-A177-3AD203B41FA5}">
                      <a16:colId xmlns:a16="http://schemas.microsoft.com/office/drawing/2014/main" val="2567896766"/>
                    </a:ext>
                  </a:extLst>
                </a:gridCol>
                <a:gridCol w="2994991">
                  <a:extLst>
                    <a:ext uri="{9D8B030D-6E8A-4147-A177-3AD203B41FA5}">
                      <a16:colId xmlns:a16="http://schemas.microsoft.com/office/drawing/2014/main" val="3762232547"/>
                    </a:ext>
                  </a:extLst>
                </a:gridCol>
                <a:gridCol w="1336501">
                  <a:extLst>
                    <a:ext uri="{9D8B030D-6E8A-4147-A177-3AD203B41FA5}">
                      <a16:colId xmlns:a16="http://schemas.microsoft.com/office/drawing/2014/main" val="811936086"/>
                    </a:ext>
                  </a:extLst>
                </a:gridCol>
                <a:gridCol w="2658613">
                  <a:extLst>
                    <a:ext uri="{9D8B030D-6E8A-4147-A177-3AD203B41FA5}">
                      <a16:colId xmlns:a16="http://schemas.microsoft.com/office/drawing/2014/main" val="3273026561"/>
                    </a:ext>
                  </a:extLst>
                </a:gridCol>
              </a:tblGrid>
              <a:tr h="897099">
                <a:tc>
                  <a:txBody>
                    <a:bodyPr/>
                    <a:lstStyle/>
                    <a:p>
                      <a:pPr algn="l" fontAlgn="b"/>
                      <a:r>
                        <a:rPr lang="en-US" sz="2000" b="0" i="0" u="none" strike="noStrike" dirty="0">
                          <a:solidFill>
                            <a:schemeClr val="bg2"/>
                          </a:solidFill>
                          <a:effectLst/>
                          <a:latin typeface="Calibri" panose="020F0502020204030204" pitchFamily="34" charset="0"/>
                        </a:rPr>
                        <a:t>Deviation</a:t>
                      </a:r>
                    </a:p>
                  </a:txBody>
                  <a:tcPr marL="9525" marR="9525" marT="9525" marB="0" anchor="b"/>
                </a:tc>
                <a:tc>
                  <a:txBody>
                    <a:bodyPr/>
                    <a:lstStyle/>
                    <a:p>
                      <a:pPr algn="l" fontAlgn="b"/>
                      <a:r>
                        <a:rPr lang="en-US" sz="2000" b="0" i="0" u="none" strike="noStrike" dirty="0">
                          <a:solidFill>
                            <a:schemeClr val="bg2"/>
                          </a:solidFill>
                          <a:effectLst/>
                          <a:latin typeface="Calibri" panose="020F0502020204030204" pitchFamily="34" charset="0"/>
                        </a:rPr>
                        <a:t>Methods Scrum team can handle deviations</a:t>
                      </a:r>
                    </a:p>
                  </a:txBody>
                  <a:tcPr marL="9525" marR="9525" marT="9525" marB="0" anchor="b"/>
                </a:tc>
                <a:tc>
                  <a:txBody>
                    <a:bodyPr/>
                    <a:lstStyle/>
                    <a:p>
                      <a:pPr algn="ctr" fontAlgn="b"/>
                      <a:r>
                        <a:rPr lang="en-US" sz="2000" b="0" i="0" u="none" strike="noStrike" dirty="0">
                          <a:solidFill>
                            <a:schemeClr val="bg2"/>
                          </a:solidFill>
                          <a:effectLst/>
                          <a:latin typeface="Calibri" panose="020F0502020204030204" pitchFamily="34" charset="0"/>
                        </a:rPr>
                        <a:t>Advantages</a:t>
                      </a:r>
                    </a:p>
                  </a:txBody>
                  <a:tcPr marL="9525" marR="9525" marT="9525" marB="0" anchor="b"/>
                </a:tc>
                <a:tc>
                  <a:txBody>
                    <a:bodyPr/>
                    <a:lstStyle/>
                    <a:p>
                      <a:pPr algn="ctr" fontAlgn="b"/>
                      <a:r>
                        <a:rPr lang="en-US" sz="2000" b="0" i="0" u="none" strike="noStrike" dirty="0">
                          <a:solidFill>
                            <a:schemeClr val="bg2"/>
                          </a:solidFill>
                          <a:effectLst/>
                          <a:latin typeface="Calibri" panose="020F0502020204030204" pitchFamily="34" charset="0"/>
                        </a:rPr>
                        <a:t>Disadvantages</a:t>
                      </a:r>
                    </a:p>
                  </a:txBody>
                  <a:tcPr marL="9525" marR="9525" marT="9525" marB="0" anchor="b"/>
                </a:tc>
                <a:extLst>
                  <a:ext uri="{0D108BD9-81ED-4DB2-BD59-A6C34878D82A}">
                    <a16:rowId xmlns:a16="http://schemas.microsoft.com/office/drawing/2014/main" val="374083791"/>
                  </a:ext>
                </a:extLst>
              </a:tr>
              <a:tr h="0">
                <a:tc>
                  <a:txBody>
                    <a:bodyPr/>
                    <a:lstStyle/>
                    <a:p>
                      <a:pPr algn="l" fontAlgn="b"/>
                      <a:endParaRPr lang="en-US" sz="1400" b="0" i="0" u="none" strike="noStrike" dirty="0">
                        <a:solidFill>
                          <a:srgbClr val="000000"/>
                        </a:solidFill>
                        <a:effectLst/>
                        <a:latin typeface="Calibri" panose="020F0502020204030204" pitchFamily="34" charset="0"/>
                      </a:endParaRPr>
                    </a:p>
                    <a:p>
                      <a:pPr algn="l" fontAlgn="b"/>
                      <a:r>
                        <a:rPr lang="en-US" sz="1400" b="0" i="0" u="none" strike="noStrike" dirty="0">
                          <a:solidFill>
                            <a:srgbClr val="000000"/>
                          </a:solidFill>
                          <a:effectLst/>
                          <a:latin typeface="Calibri" panose="020F0502020204030204" pitchFamily="34" charset="0"/>
                        </a:rPr>
                        <a:t>Team takes longer or shorter to complete a backlog item</a:t>
                      </a:r>
                      <a:br>
                        <a:rPr lang="en-US" sz="1400" b="0" i="0" u="none" strike="noStrike"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than estimated,</a:t>
                      </a:r>
                    </a:p>
                    <a:p>
                      <a:pPr algn="l" fontAlgn="b"/>
                      <a:endParaRPr lang="en-US" sz="1400" b="0" i="0" u="none" strike="noStrike" dirty="0">
                        <a:solidFill>
                          <a:srgbClr val="000000"/>
                        </a:solidFill>
                        <a:effectLst/>
                        <a:latin typeface="Calibri" panose="020F0502020204030204" pitchFamily="34" charset="0"/>
                      </a:endParaRPr>
                    </a:p>
                    <a:p>
                      <a:pPr algn="l" fontAlgn="b"/>
                      <a:endParaRPr lang="en-US" sz="1400" b="0" i="0" u="none" strike="noStrike" dirty="0">
                        <a:solidFill>
                          <a:srgbClr val="000000"/>
                        </a:solidFill>
                        <a:effectLst/>
                        <a:latin typeface="Calibri" panose="020F0502020204030204" pitchFamily="34" charset="0"/>
                      </a:endParaRPr>
                    </a:p>
                  </a:txBody>
                  <a:tcPr marL="9525" marR="9525" marT="9525" marB="0"/>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400" b="0" i="0" u="none" strike="noStrike" dirty="0">
                          <a:solidFill>
                            <a:srgbClr val="000000"/>
                          </a:solidFill>
                          <a:effectLst/>
                          <a:latin typeface="Calibri" panose="020F0502020204030204" pitchFamily="34" charset="0"/>
                        </a:rPr>
                        <a:t>By ensuring that there is a good understanding of the team velocity and ensure planning for leave and time offs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400" b="0" i="0" u="none" strike="noStrike" dirty="0">
                          <a:solidFill>
                            <a:srgbClr val="000000"/>
                          </a:solidFill>
                          <a:effectLst/>
                          <a:latin typeface="Calibri" panose="020F0502020204030204" pitchFamily="34" charset="0"/>
                        </a:rPr>
                        <a:t>Using other tools like burn down chats to monitor progress</a:t>
                      </a:r>
                    </a:p>
                    <a:p>
                      <a:pPr algn="l" fontAlgn="b"/>
                      <a:endParaRPr lang="en-US" sz="14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400" b="0" i="0" u="none" strike="noStrike" dirty="0">
                          <a:solidFill>
                            <a:srgbClr val="000000"/>
                          </a:solidFill>
                          <a:effectLst/>
                          <a:latin typeface="Calibri" panose="020F0502020204030204" pitchFamily="34" charset="0"/>
                        </a:rPr>
                        <a:t>- Ensure the team has an overview of the whole project </a:t>
                      </a:r>
                    </a:p>
                  </a:txBody>
                  <a:tcPr marL="9525" marR="9525" marT="9525" marB="0"/>
                </a:tc>
                <a:tc>
                  <a:txBody>
                    <a:bodyPr/>
                    <a:lstStyle/>
                    <a:p>
                      <a:pPr algn="l" fontAlgn="b"/>
                      <a:r>
                        <a:rPr lang="en-US" sz="1400" b="0" i="0" u="none" strike="noStrike" dirty="0">
                          <a:solidFill>
                            <a:srgbClr val="000000"/>
                          </a:solidFill>
                          <a:effectLst/>
                          <a:latin typeface="Calibri" panose="020F0502020204030204" pitchFamily="34" charset="0"/>
                        </a:rPr>
                        <a:t>- Its not practical to accommodate for all events that might happened during a sprint</a:t>
                      </a:r>
                    </a:p>
                  </a:txBody>
                  <a:tcPr marL="9525" marR="9525" marT="9525" marB="0"/>
                </a:tc>
                <a:extLst>
                  <a:ext uri="{0D108BD9-81ED-4DB2-BD59-A6C34878D82A}">
                    <a16:rowId xmlns:a16="http://schemas.microsoft.com/office/drawing/2014/main" val="1068842146"/>
                  </a:ext>
                </a:extLst>
              </a:tr>
              <a:tr h="1128736">
                <a:tc>
                  <a:txBody>
                    <a:bodyPr/>
                    <a:lstStyle/>
                    <a:p>
                      <a:pPr algn="l" fontAlgn="b"/>
                      <a:r>
                        <a:rPr lang="en-US" sz="1400" b="0" i="0" u="none" strike="noStrike" dirty="0">
                          <a:solidFill>
                            <a:srgbClr val="000000"/>
                          </a:solidFill>
                          <a:effectLst/>
                          <a:latin typeface="Calibri" panose="020F0502020204030204" pitchFamily="34" charset="0"/>
                        </a:rPr>
                        <a:t>Requirements change during the sprint,</a:t>
                      </a:r>
                    </a:p>
                    <a:p>
                      <a:pPr algn="l" fontAlgn="b"/>
                      <a:endParaRPr lang="en-US" sz="1400" b="0" i="0" u="none" strike="noStrike" dirty="0">
                        <a:solidFill>
                          <a:srgbClr val="000000"/>
                        </a:solidFill>
                        <a:effectLst/>
                        <a:latin typeface="Calibri" panose="020F0502020204030204" pitchFamily="34" charset="0"/>
                      </a:endParaRPr>
                    </a:p>
                  </a:txBody>
                  <a:tcPr marL="9525" marR="9525" marT="9525" marB="0"/>
                </a:tc>
                <a:tc>
                  <a:txBody>
                    <a:bodyPr/>
                    <a:lstStyle/>
                    <a:p>
                      <a:pPr marL="0" indent="0" algn="l" fontAlgn="b">
                        <a:buFontTx/>
                        <a:buNone/>
                      </a:pPr>
                      <a:r>
                        <a:rPr lang="en-US" sz="1400" b="0" i="0" u="none" strike="noStrike" dirty="0">
                          <a:solidFill>
                            <a:srgbClr val="000000"/>
                          </a:solidFill>
                          <a:effectLst/>
                          <a:latin typeface="Calibri" panose="020F0502020204030204" pitchFamily="34" charset="0"/>
                        </a:rPr>
                        <a:t>- Renegotiate the sprint backlog with the product - owner. Changes should not distract from the sprint goal</a:t>
                      </a:r>
                      <a:br>
                        <a:rPr lang="en-US" sz="1400" b="0" i="0" u="none" strike="noStrike"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 - Review the changes in the daily scrum meeting and adjust accommodate the changes</a:t>
                      </a:r>
                      <a:br>
                        <a:rPr lang="en-US" sz="1400" b="0" i="0" u="none" strike="noStrike"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 - Add/remove the changes to the sprint backlog</a:t>
                      </a:r>
                    </a:p>
                    <a:p>
                      <a:pPr marL="0" indent="0" algn="l" fontAlgn="b">
                        <a:buFontTx/>
                        <a:buNone/>
                      </a:pPr>
                      <a:r>
                        <a:rPr lang="en-US" sz="1400" b="0" i="0" u="none" strike="noStrike" dirty="0">
                          <a:solidFill>
                            <a:srgbClr val="000000"/>
                          </a:solidFill>
                          <a:effectLst/>
                          <a:latin typeface="Calibri" panose="020F0502020204030204" pitchFamily="34" charset="0"/>
                        </a:rPr>
                        <a:t>- Terminate the sprint</a:t>
                      </a:r>
                    </a:p>
                  </a:txBody>
                  <a:tcPr marL="9525" marR="9525" marT="9525" marB="0"/>
                </a:tc>
                <a:tc>
                  <a:txBody>
                    <a:bodyPr/>
                    <a:lstStyle/>
                    <a:p>
                      <a:pPr algn="l" fontAlgn="b"/>
                      <a:r>
                        <a:rPr lang="en-US" sz="1400" b="0" i="0" u="none" strike="noStrike" dirty="0">
                          <a:solidFill>
                            <a:srgbClr val="000000"/>
                          </a:solidFill>
                          <a:effectLst/>
                          <a:latin typeface="Calibri" panose="020F0502020204030204" pitchFamily="34" charset="0"/>
                        </a:rPr>
                        <a:t>- The team achieves Agile objective of accepting changes even late in the process</a:t>
                      </a:r>
                    </a:p>
                  </a:txBody>
                  <a:tcPr marL="9525" marR="9525" marT="9525"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 Changes might affect the overall sprint goal </a:t>
                      </a:r>
                    </a:p>
                    <a:p>
                      <a:pPr algn="l" fontAlgn="b"/>
                      <a:endParaRPr lang="en-US" sz="1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886589931"/>
                  </a:ext>
                </a:extLst>
              </a:tr>
              <a:tr h="838963">
                <a:tc>
                  <a:txBody>
                    <a:bodyPr/>
                    <a:lstStyle/>
                    <a:p>
                      <a:pPr algn="l" fontAlgn="b"/>
                      <a:r>
                        <a:rPr lang="en-US" sz="1400" b="0" i="0" u="none" strike="noStrike" dirty="0">
                          <a:solidFill>
                            <a:srgbClr val="000000"/>
                          </a:solidFill>
                          <a:effectLst/>
                          <a:latin typeface="Calibri" panose="020F0502020204030204" pitchFamily="34" charset="0"/>
                        </a:rPr>
                        <a:t>More urgent tasks are pushed in by a team lead</a:t>
                      </a:r>
                    </a:p>
                  </a:txBody>
                  <a:tcPr marL="9525" marR="9525" marT="9525" marB="0"/>
                </a:tc>
                <a:tc>
                  <a:txBody>
                    <a:bodyPr/>
                    <a:lstStyle/>
                    <a:p>
                      <a:pPr algn="l" fontAlgn="b"/>
                      <a:r>
                        <a:rPr lang="en-US" sz="1400" b="0" i="0" u="none" strike="noStrike" dirty="0">
                          <a:solidFill>
                            <a:srgbClr val="000000"/>
                          </a:solidFill>
                          <a:effectLst/>
                          <a:latin typeface="Calibri" panose="020F0502020204030204" pitchFamily="34" charset="0"/>
                        </a:rPr>
                        <a:t>- Renegotiate the sprint backlog with the product - owner. Changes should not distract from the sprint goal</a:t>
                      </a:r>
                      <a:br>
                        <a:rPr lang="en-US" sz="1400" b="0" i="0" u="none" strike="noStrike"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 - Add/remove the changes to the sprint backlog as long as they don't interfere with the sprint goal</a:t>
                      </a:r>
                    </a:p>
                  </a:txBody>
                  <a:tcPr marL="9525" marR="9525" marT="9525"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marL="285750" indent="-285750" algn="l" fontAlgn="b">
                        <a:buFontTx/>
                        <a:buChar char="-"/>
                      </a:pPr>
                      <a:r>
                        <a:rPr lang="en-US" sz="1400" b="0" i="0" u="none" strike="noStrike" dirty="0">
                          <a:solidFill>
                            <a:srgbClr val="000000"/>
                          </a:solidFill>
                          <a:effectLst/>
                          <a:latin typeface="Calibri" panose="020F0502020204030204" pitchFamily="34" charset="0"/>
                        </a:rPr>
                        <a:t>This might affect overall delivery of the team at the end of the sprint</a:t>
                      </a:r>
                    </a:p>
                    <a:p>
                      <a:pPr marL="285750" indent="-285750" algn="l" fontAlgn="b">
                        <a:buFontTx/>
                        <a:buChar char="-"/>
                      </a:pPr>
                      <a:r>
                        <a:rPr lang="en-US" sz="1400" b="0" i="0" u="none" strike="noStrike" dirty="0">
                          <a:solidFill>
                            <a:srgbClr val="000000"/>
                          </a:solidFill>
                          <a:effectLst/>
                          <a:latin typeface="Calibri" panose="020F0502020204030204" pitchFamily="34" charset="0"/>
                        </a:rPr>
                        <a:t>Team moral might be affected due to the distractions.</a:t>
                      </a:r>
                    </a:p>
                    <a:p>
                      <a:pPr marL="0" indent="0" algn="l" fontAlgn="b">
                        <a:buFontTx/>
                        <a:buNone/>
                      </a:pP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9814287"/>
                  </a:ext>
                </a:extLst>
              </a:tr>
            </a:tbl>
          </a:graphicData>
        </a:graphic>
      </p:graphicFrame>
    </p:spTree>
    <p:extLst>
      <p:ext uri="{BB962C8B-B14F-4D97-AF65-F5344CB8AC3E}">
        <p14:creationId xmlns:p14="http://schemas.microsoft.com/office/powerpoint/2010/main" val="130319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 Sprint Deviation (Requirements Change During The Sprint</a:t>
            </a:r>
          </a:p>
        </p:txBody>
      </p:sp>
      <p:sp>
        <p:nvSpPr>
          <p:cNvPr id="3" name="Content Placeholder 2">
            <a:extLst>
              <a:ext uri="{FF2B5EF4-FFF2-40B4-BE49-F238E27FC236}">
                <a16:creationId xmlns:a16="http://schemas.microsoft.com/office/drawing/2014/main" id="{478CEAD2-459D-4ED6-B490-3D61E44CF8FA}"/>
              </a:ext>
            </a:extLst>
          </p:cNvPr>
          <p:cNvSpPr>
            <a:spLocks noGrp="1"/>
          </p:cNvSpPr>
          <p:nvPr>
            <p:ph idx="1"/>
          </p:nvPr>
        </p:nvSpPr>
        <p:spPr>
          <a:xfrm>
            <a:off x="1104900" y="1431235"/>
            <a:ext cx="9982200" cy="4740965"/>
          </a:xfrm>
        </p:spPr>
        <p:txBody>
          <a:bodyPr>
            <a:normAutofit/>
          </a:bodyPr>
          <a:lstStyle/>
          <a:p>
            <a:pPr marL="0" indent="0">
              <a:buNone/>
            </a:pPr>
            <a:r>
              <a:rPr lang="en-US" sz="1800" dirty="0"/>
              <a:t>Bahati internet </a:t>
            </a:r>
            <a:r>
              <a:rPr lang="en-US" sz="1800" dirty="0">
                <a:latin typeface="Calibri" panose="020F0502020204030204" pitchFamily="34" charset="0"/>
              </a:rPr>
              <a:t>company</a:t>
            </a:r>
            <a:r>
              <a:rPr lang="en-US" sz="1800" dirty="0"/>
              <a:t> has two products for internet: </a:t>
            </a:r>
          </a:p>
          <a:p>
            <a:pPr marL="400050" indent="-400050">
              <a:buAutoNum type="romanLcParenR"/>
            </a:pPr>
            <a:r>
              <a:rPr lang="en-US" sz="1800" dirty="0"/>
              <a:t>Africa express </a:t>
            </a:r>
          </a:p>
          <a:p>
            <a:pPr marL="400050" indent="-400050">
              <a:buAutoNum type="romanLcParenR"/>
            </a:pPr>
            <a:r>
              <a:rPr lang="en-US" sz="1800" dirty="0"/>
              <a:t>Europe express.  </a:t>
            </a:r>
          </a:p>
          <a:p>
            <a:pPr marL="0" indent="0">
              <a:buNone/>
            </a:pPr>
            <a:r>
              <a:rPr lang="en-US" sz="1800" dirty="0"/>
              <a:t>	Africa express product is loved by customers because of its affordable pricing. Europe express product is more expensive and has guaranteed quality of service. Due to the cheap cost of Africa Express not most local content is available. Customers are complaining that it does not provide redundancy and enough content. Scrum team A has been assigned to re-engineer Africa express to accommodate more local routes and include some redundancy. The product owner builds the product catalogue, and the team begins to develop and re-engineer Africa Express. In the middle of the engineering process, it is later discovered that due to changes and upgrades the product team has now made the costs of both Africa express and Europe express the same. It is now possible to migrate all the customers from Africa express to Europe express and their wont be a need to re-engineer Africa express to accommodate this customers.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89274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4" name="Text Placeholder 3"/>
          <p:cNvSpPr>
            <a:spLocks noGrp="1"/>
          </p:cNvSpPr>
          <p:nvPr>
            <p:ph type="body" sz="half" idx="2"/>
          </p:nvPr>
        </p:nvSpPr>
        <p:spPr>
          <a:xfrm>
            <a:off x="1104899" y="1600200"/>
            <a:ext cx="10384735" cy="4572000"/>
          </a:xfrm>
        </p:spPr>
        <p:txBody>
          <a:bodyPr/>
          <a:lstStyle/>
          <a:p>
            <a:r>
              <a:rPr lang="en-US" dirty="0"/>
              <a:t>Conclusion</a:t>
            </a:r>
          </a:p>
          <a:p>
            <a:r>
              <a:rPr lang="en-US" dirty="0"/>
              <a:t>Sprints play a crucial role in the Scrum framework. There are ideals that a sprint should conform to however from time to time deviations happened during a sprint. The example illustrates a perfect example of a deviation during a sprint. In as much as this goes against the sprint ideal, some adjustments have to be made. In this case the team can either</a:t>
            </a:r>
          </a:p>
          <a:p>
            <a:pPr marL="342900" indent="-342900">
              <a:buAutoNum type="alphaUcParenR"/>
            </a:pPr>
            <a:r>
              <a:rPr lang="en-US" dirty="0"/>
              <a:t>Terminate the sprint</a:t>
            </a:r>
          </a:p>
          <a:p>
            <a:pPr marL="342900" indent="-342900">
              <a:buAutoNum type="alphaUcParenR"/>
            </a:pPr>
            <a:r>
              <a:rPr lang="en-US" dirty="0"/>
              <a:t>By ensuring that the team does not take on work that is has dependencies from other teams</a:t>
            </a:r>
          </a:p>
          <a:p>
            <a:pPr marL="400050" indent="-400050">
              <a:buAutoNum type="romanLcParenR" startAt="2"/>
            </a:pPr>
            <a:endParaRPr lang="en-US" dirty="0"/>
          </a:p>
          <a:p>
            <a:r>
              <a:rPr lang="en-US" dirty="0"/>
              <a:t>Terminating the sprint means a lot of resources have been put in and will go to waste. The team moral might also be affected. On the other had its hard to always ensure tasks do not have dependencies as the team will not operate in a vacuum.</a:t>
            </a:r>
          </a:p>
          <a:p>
            <a:endParaRPr lang="en-US" dirty="0"/>
          </a:p>
          <a:p>
            <a:endParaRPr lang="en-US" dirty="0"/>
          </a:p>
        </p:txBody>
      </p:sp>
    </p:spTree>
    <p:extLst>
      <p:ext uri="{BB962C8B-B14F-4D97-AF65-F5344CB8AC3E}">
        <p14:creationId xmlns:p14="http://schemas.microsoft.com/office/powerpoint/2010/main" val="413245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Bibliography</a:t>
            </a:r>
          </a:p>
        </p:txBody>
      </p:sp>
      <p:sp>
        <p:nvSpPr>
          <p:cNvPr id="4" name="Text Placeholder 3"/>
          <p:cNvSpPr>
            <a:spLocks noGrp="1"/>
          </p:cNvSpPr>
          <p:nvPr>
            <p:ph type="body" sz="half" idx="2"/>
          </p:nvPr>
        </p:nvSpPr>
        <p:spPr>
          <a:xfrm>
            <a:off x="1104900" y="1600200"/>
            <a:ext cx="10146196" cy="4572000"/>
          </a:xfrm>
        </p:spPr>
        <p:txBody>
          <a:bodyPr/>
          <a:lstStyle/>
          <a:p>
            <a:endParaRPr lang="en-US" dirty="0"/>
          </a:p>
          <a:p>
            <a:r>
              <a:rPr lang="en-US" b="1" dirty="0"/>
              <a:t>Essential Scrum by Ken rubin </a:t>
            </a:r>
            <a:endParaRPr lang="en-US" dirty="0"/>
          </a:p>
          <a:p>
            <a:r>
              <a:rPr lang="en-US" b="1" dirty="0"/>
              <a:t>The Scrum Culture  by Dominik </a:t>
            </a:r>
            <a:r>
              <a:rPr lang="en-US" b="1" dirty="0" err="1"/>
              <a:t>Maximini</a:t>
            </a:r>
            <a:endParaRPr lang="en-US" b="1" dirty="0"/>
          </a:p>
          <a:p>
            <a:r>
              <a:rPr lang="en-US" dirty="0"/>
              <a:t>https://www.scrum.org/resources/</a:t>
            </a:r>
          </a:p>
          <a:p>
            <a:endParaRPr lang="en-US" dirty="0"/>
          </a:p>
        </p:txBody>
      </p:sp>
    </p:spTree>
    <p:extLst>
      <p:ext uri="{BB962C8B-B14F-4D97-AF65-F5344CB8AC3E}">
        <p14:creationId xmlns:p14="http://schemas.microsoft.com/office/powerpoint/2010/main" val="319702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94</TotalTime>
  <Words>1142</Words>
  <Application>Microsoft Office PowerPoint</Application>
  <PresentationFormat>Widescreen</PresentationFormat>
  <Paragraphs>111</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Euphemia</vt:lpstr>
      <vt:lpstr>Plantagenet Cherokee</vt:lpstr>
      <vt:lpstr>Wingdings</vt:lpstr>
      <vt:lpstr>Academic Literature 16x9</vt:lpstr>
      <vt:lpstr>Deviations in Scrum</vt:lpstr>
      <vt:lpstr>Scrum deviations</vt:lpstr>
      <vt:lpstr>Introduction</vt:lpstr>
      <vt:lpstr>Properties of an Ideal Sprint</vt:lpstr>
      <vt:lpstr>Different Situations leading to deviations </vt:lpstr>
      <vt:lpstr>Handling deviations </vt:lpstr>
      <vt:lpstr>Example of a Sprint Deviation (Requirements Change During The Sprint</vt:lpstr>
      <vt:lpstr>Conclusion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Deviations in ScRum</dc:title>
  <dc:creator>Wycliffe Bahati</dc:creator>
  <cp:lastModifiedBy>Wycliffe Bahati</cp:lastModifiedBy>
  <cp:revision>2</cp:revision>
  <dcterms:created xsi:type="dcterms:W3CDTF">2022-06-04T07:31:38Z</dcterms:created>
  <dcterms:modified xsi:type="dcterms:W3CDTF">2022-06-04T09:06:27Z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